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Merriweather"/>
      <p:bold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erriweather-bold.fntdata"/><Relationship Id="rId14" Type="http://schemas.openxmlformats.org/officeDocument/2006/relationships/slide" Target="slides/slide10.xml"/><Relationship Id="rId17" Type="http://schemas.openxmlformats.org/officeDocument/2006/relationships/font" Target="fonts/OpenSans-regular.fntdata"/><Relationship Id="rId16" Type="http://schemas.openxmlformats.org/officeDocument/2006/relationships/font" Target="fonts/Merriweather-boldItalic.fntdata"/><Relationship Id="rId5" Type="http://schemas.openxmlformats.org/officeDocument/2006/relationships/slide" Target="slides/slide1.xml"/><Relationship Id="rId19" Type="http://schemas.openxmlformats.org/officeDocument/2006/relationships/font" Target="fonts/OpenSans-italic.fntdata"/><Relationship Id="rId6" Type="http://schemas.openxmlformats.org/officeDocument/2006/relationships/slide" Target="slides/slide2.xml"/><Relationship Id="rId18" Type="http://schemas.openxmlformats.org/officeDocument/2006/relationships/font" Target="fonts/Open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661475" y="2288381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3700"/>
              <a:buFont typeface="Merriweather"/>
              <a:buNone/>
            </a:pPr>
            <a:r>
              <a:rPr b="1" i="0" lang="en-US" sz="37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Silver Jewellery Report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661475" y="3162498"/>
            <a:ext cx="6296860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 comprehensive market intelligence report covering India's silver jewellery landscape — consumer trends, pricing dynamics, and growth opportunities for retailers, wholesalers, and investors.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61475" y="4282380"/>
            <a:ext cx="1860404" cy="287139"/>
          </a:xfrm>
          <a:prstGeom prst="roundRect">
            <a:avLst>
              <a:gd fmla="val 22118" name="adj"/>
            </a:avLst>
          </a:prstGeom>
          <a:solidFill>
            <a:srgbClr val="FFD8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774879" y="4339034"/>
            <a:ext cx="2243181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MARKET INTELLIGENCE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616333" y="4282380"/>
            <a:ext cx="1094058" cy="287139"/>
          </a:xfrm>
          <a:prstGeom prst="roundRect">
            <a:avLst>
              <a:gd fmla="val 22118" name="adj"/>
            </a:avLst>
          </a:prstGeom>
          <a:noFill/>
          <a:ln cap="flat" cmpd="sng" w="9525">
            <a:solidFill>
              <a:srgbClr val="FFAD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729737" y="4339034"/>
            <a:ext cx="1476834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AD94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FFAD94"/>
                </a:solidFill>
                <a:latin typeface="Open Sans"/>
                <a:ea typeface="Open Sans"/>
                <a:cs typeface="Open Sans"/>
                <a:sym typeface="Open Sans"/>
              </a:rPr>
              <a:t>INDIA · 2026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661475" y="611088"/>
            <a:ext cx="10868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3700"/>
              <a:buFont typeface="Merriweather"/>
              <a:buNone/>
            </a:pPr>
            <a:r>
              <a:rPr b="1" i="0" lang="en-US" sz="37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India's Silver Jewellery Market — Size &amp; Growth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288480"/>
            <a:ext cx="5203794" cy="374580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6332776" y="2264866"/>
            <a:ext cx="520379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850"/>
              <a:buFont typeface="Merriweather"/>
              <a:buNone/>
            </a:pPr>
            <a:r>
              <a:rPr b="1" i="0" lang="en-US" sz="18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Market Overview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332776" y="2749153"/>
            <a:ext cx="5203794" cy="151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India's silver jewellery market has grown steadily, driven by rising disposable incomes, festive demand, and a cultural affinity for silver. The market is projected to surpass </a:t>
            </a:r>
            <a:r>
              <a:rPr b="1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USD 28 billion by 2025</a:t>
            </a: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reflecting a CAGR of approximately 16% since 2020.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332776" y="4431308"/>
            <a:ext cx="5203794" cy="1341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50"/>
              <a:buFont typeface="Open Sans"/>
              <a:buChar char="•"/>
            </a:pP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Strong Tier-2 and Tier-3 city penetration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50"/>
              <a:buFont typeface="Open Sans"/>
              <a:buChar char="•"/>
            </a:pP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Growing preference for lightweight, contemporary designs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50"/>
              <a:buFont typeface="Open Sans"/>
              <a:buChar char="•"/>
            </a:pP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Export demand supplementing domestic consumption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3700"/>
              <a:buFont typeface="Merriweather"/>
              <a:buNone/>
            </a:pPr>
            <a:r>
              <a:rPr b="1" i="0" lang="en-US" sz="37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Consumer Preference by Jewellery Type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993106"/>
            <a:ext cx="5203794" cy="374580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850"/>
              <a:buFont typeface="Merriweather"/>
              <a:buNone/>
            </a:pPr>
            <a:r>
              <a:rPr b="1" i="0" lang="en-US" sz="18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What Drives Preference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6332776" y="2453779"/>
            <a:ext cx="5203794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Rings lead consumer preference at </a:t>
            </a:r>
            <a:r>
              <a:rPr b="1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28%</a:t>
            </a: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followed closely by necklaces and pendants. Earrings and bangles remain strong categories, particularly in traditional markets across South and West India.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6332776" y="3876080"/>
            <a:ext cx="5203794" cy="1644253"/>
          </a:xfrm>
          <a:prstGeom prst="roundRect">
            <a:avLst>
              <a:gd fmla="val 4828" name="adj"/>
            </a:avLst>
          </a:prstGeom>
          <a:solidFill>
            <a:srgbClr val="FFD8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1783" y="4169172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6947024" y="4093369"/>
            <a:ext cx="4400539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Anklets and toe rings, while niche, show strong regional demand in rural and semi-urban markets, representing an underserved opportunity for specialised retailers.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661475" y="559991"/>
            <a:ext cx="10868745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750"/>
              <a:buFont typeface="Merriweather"/>
              <a:buNone/>
            </a:pPr>
            <a:r>
              <a:rPr b="1" i="0" lang="en-US" sz="27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Silver Price Trend vs. Jewellery Demand (2020–2025)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215628"/>
            <a:ext cx="8151509" cy="456584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661475" y="5901035"/>
            <a:ext cx="1086874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Despite rising silver prices, consumer demand has continued to climb — indicating strong underlying market fundamentals. The </a:t>
            </a:r>
            <a:r>
              <a:rPr b="1" i="0" lang="en-US" sz="11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Demand Index</a:t>
            </a:r>
            <a:r>
              <a:rPr b="0" i="0" lang="en-US" sz="11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has grown 56% since 2020, even as prices rose over 60%, suggesting that price sensitivity is offset by cultural and investment-driven purchasing behaviour.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661475" y="611088"/>
            <a:ext cx="10868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3700"/>
              <a:buFont typeface="Merriweather"/>
              <a:buNone/>
            </a:pPr>
            <a:r>
              <a:rPr b="1" i="0" lang="en-US" sz="37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Regional Market Share — Silver Jewellery Sales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288480"/>
            <a:ext cx="5203794" cy="374580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/>
          <p:nvPr/>
        </p:nvSpPr>
        <p:spPr>
          <a:xfrm>
            <a:off x="6332776" y="2264866"/>
            <a:ext cx="520379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850"/>
              <a:buFont typeface="Merriweather"/>
              <a:buNone/>
            </a:pPr>
            <a:r>
              <a:rPr b="1" i="0" lang="en-US" sz="18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Regional Insights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6332776" y="2749153"/>
            <a:ext cx="5203794" cy="151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50"/>
              <a:buFont typeface="Open Sans"/>
              <a:buNone/>
            </a:pPr>
            <a:r>
              <a:rPr b="1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West India</a:t>
            </a: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(Maharashtra, Gujarat, Rajasthan) dominates with 32% of national sales, driven by wedding season demand and a strong tradition of silver gifting. </a:t>
            </a:r>
            <a:r>
              <a:rPr b="1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South India</a:t>
            </a: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follows closely, with Karnataka and Tamil Nadu showing robust urban growth.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6332776" y="4431308"/>
            <a:ext cx="5203794" cy="1341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50"/>
              <a:buFont typeface="Open Sans"/>
              <a:buChar char="•"/>
            </a:pP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West &amp; South India: 60% of total market volume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50"/>
              <a:buFont typeface="Open Sans"/>
              <a:buChar char="•"/>
            </a:pP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North India: Growing urban middle-class demand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50"/>
              <a:buFont typeface="Open Sans"/>
              <a:buChar char="•"/>
            </a:pP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East India: Emerging opportunity with untapped potential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/>
          <p:nvPr/>
        </p:nvSpPr>
        <p:spPr>
          <a:xfrm>
            <a:off x="5233360" y="543719"/>
            <a:ext cx="6296860" cy="1122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3500"/>
              <a:buFont typeface="Merriweather"/>
              <a:buNone/>
            </a:pPr>
            <a:r>
              <a:rPr b="1" i="0" lang="en-US" sz="35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Consumer Demographics — Who Is Buying?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5233360" y="1921966"/>
            <a:ext cx="3063104" cy="1874838"/>
          </a:xfrm>
          <a:prstGeom prst="roundRect">
            <a:avLst>
              <a:gd fmla="val 4023" name="adj"/>
            </a:avLst>
          </a:prstGeom>
          <a:solidFill>
            <a:srgbClr val="FFD8CC"/>
          </a:solidFill>
          <a:ln cap="flat" cmpd="sng" w="952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5419193" y="2107803"/>
            <a:ext cx="2691440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Merriweather"/>
              <a:buNone/>
            </a:pPr>
            <a:r>
              <a:rPr b="1" i="0" lang="en-US" sz="17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Age 18–30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19193" y="2490589"/>
            <a:ext cx="2691440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34% of buyers — driven by fashion-forward, lightweight designs and online purchasing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8467017" y="1921966"/>
            <a:ext cx="3063203" cy="1874838"/>
          </a:xfrm>
          <a:prstGeom prst="roundRect">
            <a:avLst>
              <a:gd fmla="val 4023" name="adj"/>
            </a:avLst>
          </a:prstGeom>
          <a:solidFill>
            <a:srgbClr val="FFD8CC"/>
          </a:solidFill>
          <a:ln cap="flat" cmpd="sng" w="952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8652849" y="2107803"/>
            <a:ext cx="2691539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Merriweather"/>
              <a:buNone/>
            </a:pPr>
            <a:r>
              <a:rPr b="1" i="0" lang="en-US" sz="17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Age 31–45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8652849" y="2490589"/>
            <a:ext cx="2691539" cy="1120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41% of buyers — highest spenders; prefer traditional designs and investment-grade pieces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5233360" y="3967361"/>
            <a:ext cx="6296860" cy="1314648"/>
          </a:xfrm>
          <a:prstGeom prst="roundRect">
            <a:avLst>
              <a:gd fmla="val 5737" name="adj"/>
            </a:avLst>
          </a:prstGeom>
          <a:solidFill>
            <a:srgbClr val="FFD8CC"/>
          </a:solidFill>
          <a:ln cap="flat" cmpd="sng" w="952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5419193" y="4153198"/>
            <a:ext cx="5925196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Merriweather"/>
              <a:buNone/>
            </a:pPr>
            <a:r>
              <a:rPr b="1" i="0" lang="en-US" sz="17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Age 46+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5419193" y="4535984"/>
            <a:ext cx="5925196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25% of buyers — value purity, brand trust, and heirloom-quality craftsmanship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5233360" y="5473898"/>
            <a:ext cx="6296860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The 31–45 age group represents the </a:t>
            </a:r>
            <a:r>
              <a:rPr b="1" i="0" lang="en-US" sz="14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core revenue segment</a:t>
            </a:r>
            <a:r>
              <a:rPr b="0" i="0" lang="en-US" sz="14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while the 18–30 cohort is the fastest-growing — presenting a dual opportunity for retailers to balance traditional and contemporary product lines.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3700"/>
              <a:buFont typeface="Merriweather"/>
              <a:buNone/>
            </a:pPr>
            <a:r>
              <a:rPr b="1" i="0" lang="en-US" sz="37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Sales Channel Distribution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993106"/>
            <a:ext cx="5203794" cy="374580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850"/>
              <a:buFont typeface="Merriweather"/>
              <a:buNone/>
            </a:pPr>
            <a:r>
              <a:rPr b="1" i="0" lang="en-US" sz="18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Channel Shift in Progress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6332776" y="2453779"/>
            <a:ext cx="5203794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Offline retail still commands over </a:t>
            </a:r>
            <a:r>
              <a:rPr b="1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half of all sales</a:t>
            </a:r>
            <a:r>
              <a:rPr b="0" i="0" lang="en-US" sz="14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but e-commerce is rapidly gaining ground — particularly among urban millennials. Online channels grew from 15% in 2020 to 28% in 2025.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6332776" y="3876080"/>
            <a:ext cx="5203794" cy="1644253"/>
          </a:xfrm>
          <a:prstGeom prst="roundRect">
            <a:avLst>
              <a:gd fmla="val 4828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1783" y="4169172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0"/>
          <p:cNvSpPr/>
          <p:nvPr/>
        </p:nvSpPr>
        <p:spPr>
          <a:xfrm>
            <a:off x="6947024" y="4093369"/>
            <a:ext cx="4400539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Wholesale and B2B channels remain critical for regional distributors and smaller retailers sourcing inventory from manufacturing hubs like Jaipur and Kolkata.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/>
          <p:nvPr/>
        </p:nvSpPr>
        <p:spPr>
          <a:xfrm>
            <a:off x="661475" y="559991"/>
            <a:ext cx="10868745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750"/>
              <a:buFont typeface="Merriweather"/>
              <a:buNone/>
            </a:pPr>
            <a:r>
              <a:rPr b="1" i="0" lang="en-US" sz="27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Seasonal Demand Pattern — Monthly Sales Index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215628"/>
            <a:ext cx="8151509" cy="456584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/>
          <p:nvPr/>
        </p:nvSpPr>
        <p:spPr>
          <a:xfrm>
            <a:off x="661475" y="5901035"/>
            <a:ext cx="1086874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The festive window from </a:t>
            </a:r>
            <a:r>
              <a:rPr b="1" i="0" lang="en-US" sz="11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August to November</a:t>
            </a:r>
            <a:r>
              <a:rPr b="0" i="0" lang="en-US" sz="11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(Raksha Bandhan, Janmashtami, Navratri, Diwali) accounts for nearly </a:t>
            </a:r>
            <a:r>
              <a:rPr b="1" i="0" lang="en-US" sz="11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45% of annual sales volume</a:t>
            </a:r>
            <a:r>
              <a:rPr b="0" i="0" lang="en-US" sz="11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. Retailers should plan inventory and marketing campaigns at least 60–90 days ahead of this peak season to maximise revenue.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900"/>
              <a:buFont typeface="Merriweather"/>
              <a:buNone/>
            </a:pPr>
            <a:r>
              <a:rPr b="1" i="0" lang="en-US" sz="19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Key Market Drivers &amp; Growth Catalysts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961132"/>
            <a:ext cx="5315512" cy="531564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2"/>
          <p:cNvSpPr/>
          <p:nvPr/>
        </p:nvSpPr>
        <p:spPr>
          <a:xfrm>
            <a:off x="6221058" y="3139678"/>
            <a:ext cx="5315512" cy="152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950"/>
              <a:buFont typeface="Merriweather"/>
              <a:buNone/>
            </a:pPr>
            <a:r>
              <a:rPr b="1" i="0" lang="en-US" sz="9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Why the Market Is Accelerating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6221058" y="3342184"/>
            <a:ext cx="5315512" cy="354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India's silver jewellery sector benefits from a rare combination of </a:t>
            </a:r>
            <a:r>
              <a:rPr b="1" i="0" lang="en-US" sz="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cultural tailwinds and economic momentum</a:t>
            </a:r>
            <a:r>
              <a:rPr b="0" i="0" lang="en-US" sz="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. Rising incomes, urbanisation, and digital commerce are expanding the addressable market beyond traditional strongholds.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221058" y="3741539"/>
            <a:ext cx="5315512" cy="389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750"/>
              <a:buFont typeface="Open Sans"/>
              <a:buChar char="•"/>
            </a:pPr>
            <a:r>
              <a:rPr b="0" i="0" lang="en-US" sz="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Wedding and gifting culture ensures consistent baseline demand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750"/>
              <a:buFont typeface="Open Sans"/>
              <a:buChar char="•"/>
            </a:pPr>
            <a:r>
              <a:rPr b="0" i="0" lang="en-US" sz="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Export orders from US, UK, and Middle East supplement domestic sales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750"/>
              <a:buFont typeface="Open Sans"/>
              <a:buChar char="•"/>
            </a:pPr>
            <a:r>
              <a:rPr b="0" i="0" lang="en-US" sz="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Government's PLI scheme supporting domestic manufacturing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Google Shape;1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/>
          <p:nvPr/>
        </p:nvSpPr>
        <p:spPr>
          <a:xfrm>
            <a:off x="5233360" y="620911"/>
            <a:ext cx="6296860" cy="1063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3300"/>
              <a:buFont typeface="Merriweather"/>
              <a:buNone/>
            </a:pPr>
            <a:r>
              <a:rPr b="1" i="0" lang="en-US" sz="33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Outlook &amp; Recommendations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1913731"/>
            <a:ext cx="6296860" cy="125283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/>
          <p:nvPr/>
        </p:nvSpPr>
        <p:spPr>
          <a:xfrm>
            <a:off x="5498665" y="2102842"/>
            <a:ext cx="5842449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650"/>
              <a:buFont typeface="Merriweather"/>
              <a:buNone/>
            </a:pPr>
            <a:r>
              <a:rPr b="1" i="0" lang="en-US" sz="16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For Retailers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5498665" y="2460327"/>
            <a:ext cx="5842449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Expand festive-season inventory by Q2; invest in omnichannel presence to capture the growing online segment.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3319661"/>
            <a:ext cx="6296860" cy="125283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3"/>
          <p:cNvSpPr/>
          <p:nvPr/>
        </p:nvSpPr>
        <p:spPr>
          <a:xfrm>
            <a:off x="5498665" y="3508772"/>
            <a:ext cx="5842449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650"/>
              <a:buFont typeface="Merriweather"/>
              <a:buNone/>
            </a:pPr>
            <a:r>
              <a:rPr b="1" i="0" lang="en-US" sz="16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For Wholesalers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5498665" y="3866257"/>
            <a:ext cx="5842449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Strengthen ties with Tier-2 city retailers; diversify product mix toward lightweight, contemporary designs for younger buyers.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3360" y="4725591"/>
            <a:ext cx="6296860" cy="15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/>
          <p:nvPr/>
        </p:nvSpPr>
        <p:spPr>
          <a:xfrm>
            <a:off x="5498665" y="4914702"/>
            <a:ext cx="5842449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650"/>
              <a:buFont typeface="Merriweather"/>
              <a:buNone/>
            </a:pPr>
            <a:r>
              <a:rPr b="1" i="0" lang="en-US" sz="165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For Investors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5498665" y="5272187"/>
            <a:ext cx="5842449" cy="7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300"/>
              <a:buFont typeface="Open Sans"/>
              <a:buNone/>
            </a:pPr>
            <a:r>
              <a:rPr b="0" i="0" lang="en-US" sz="130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The sector's 16% CAGR and resilient demand fundamentals make silver jewellery a compelling mid-term investment thesis in India's consumer goods space.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